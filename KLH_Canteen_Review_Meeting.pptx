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86" r:id="rId2"/>
    <p:sldId id="260" r:id="rId3"/>
    <p:sldId id="278" r:id="rId4"/>
    <p:sldId id="257" r:id="rId5"/>
    <p:sldId id="321" r:id="rId6"/>
    <p:sldId id="326" r:id="rId7"/>
    <p:sldId id="322" r:id="rId8"/>
    <p:sldId id="323" r:id="rId9"/>
    <p:sldId id="328" r:id="rId10"/>
    <p:sldId id="324" r:id="rId11"/>
    <p:sldId id="277" r:id="rId12"/>
    <p:sldId id="320" r:id="rId13"/>
    <p:sldId id="327" r:id="rId1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946" y="13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College Canteen Token System</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Member 1 Sai Saketh Vutharavalli                                                        roll 2520090055</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Member 2  </a:t>
            </a:r>
            <a:r>
              <a:rPr lang="en-US" sz="3300" dirty="0" err="1">
                <a:solidFill>
                  <a:srgbClr val="0D0D0D"/>
                </a:solidFill>
                <a:latin typeface="Times New Roman" pitchFamily="18" charset="0"/>
                <a:cs typeface="Times New Roman" pitchFamily="18" charset="0"/>
              </a:rPr>
              <a:t>Burlla</a:t>
            </a:r>
            <a:r>
              <a:rPr lang="en-US" sz="3300" dirty="0">
                <a:solidFill>
                  <a:srgbClr val="0D0D0D"/>
                </a:solidFill>
                <a:latin typeface="Times New Roman" pitchFamily="18" charset="0"/>
                <a:cs typeface="Times New Roman" pitchFamily="18" charset="0"/>
              </a:rPr>
              <a:t> Chenna </a:t>
            </a:r>
            <a:r>
              <a:rPr lang="en-US" sz="3300" dirty="0" err="1">
                <a:solidFill>
                  <a:srgbClr val="0D0D0D"/>
                </a:solidFill>
                <a:latin typeface="Times New Roman" pitchFamily="18" charset="0"/>
                <a:cs typeface="Times New Roman" pitchFamily="18" charset="0"/>
              </a:rPr>
              <a:t>Malleshwar</a:t>
            </a:r>
            <a:r>
              <a:rPr lang="en-US" sz="3300">
                <a:solidFill>
                  <a:srgbClr val="0D0D0D"/>
                </a:solidFill>
                <a:latin typeface="Times New Roman" pitchFamily="18" charset="0"/>
                <a:cs typeface="Times New Roman" pitchFamily="18" charset="0"/>
              </a:rPr>
              <a:t> Reddy                                      </a:t>
            </a:r>
            <a:r>
              <a:rPr lang="en-US" sz="3300" dirty="0">
                <a:solidFill>
                  <a:srgbClr val="0D0D0D"/>
                </a:solidFill>
                <a:latin typeface="Times New Roman" pitchFamily="18" charset="0"/>
                <a:cs typeface="Times New Roman" pitchFamily="18" charset="0"/>
              </a:rPr>
              <a:t>roll 2520030546</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Nirmala Jyothi</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a:bodyPr>
          <a:lstStyle/>
          <a:p>
            <a:pPr>
              <a:buNone/>
            </a:pPr>
            <a:r>
              <a:rPr lang="en-US" sz="1600" dirty="0"/>
              <a:t>In today's fast-paced academic environment, long queues and manual order management in college canteens lead to significant time loss for students and operational inefficiencies for canteen staff. The College Canteen Token System is a web-based application designed to digitize and streamline the entire meal pre-ordering process within a college campus. The system allows students to browse the daily menu, apply dietary filters (vegetarian/non-vegetarian), place orders within defined daily limits, and complete a mock payment — all through an intuitive web interface. Upon successful order placement, a unique QR-coded token is generated for each student, which serves as a contactless pickup pass at the canteen counter. On the administrative side, canteen staff and administrators are provided with a dedicated panel to manage the menu, monitor incoming orders in real time, track daily revenue through a billing dashboard, and send notifications to students regarding order status. The application is built using Node.js and Express.js for the backend REST API, with HTML5, CSS3, and JavaScript powering the frontend. Data is persisted using </a:t>
            </a:r>
            <a:r>
              <a:rPr lang="en-US" sz="1600" dirty="0" err="1"/>
              <a:t>LocalStorage</a:t>
            </a:r>
            <a:r>
              <a:rPr lang="en-US" sz="1600" dirty="0"/>
              <a:t>, eliminating the need for complex database configuration. QR code generation is handled via the </a:t>
            </a:r>
            <a:r>
              <a:rPr lang="en-US" sz="1600" dirty="0" err="1"/>
              <a:t>qrcode</a:t>
            </a:r>
            <a:r>
              <a:rPr lang="en-US" sz="1600" dirty="0"/>
              <a:t> </a:t>
            </a:r>
            <a:r>
              <a:rPr lang="en-US" sz="1600" dirty="0" err="1"/>
              <a:t>npm</a:t>
            </a:r>
            <a:r>
              <a:rPr lang="en-US" sz="1600" dirty="0"/>
              <a:t> package, and all APIs are tested using Postman. This project demonstrates practical application of full-stack web development concepts including RESTful API design, modular frontend architecture, role-based access control, and real-time order management — making it a relevant and impactful solution to an everyday campus problem.</a:t>
            </a: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457200" y="1219201"/>
            <a:ext cx="8229600" cy="4906964"/>
          </a:xfrm>
        </p:spPr>
        <p:txBody>
          <a:bodyPr>
            <a:normAutofit fontScale="92500" lnSpcReduction="10000"/>
          </a:bodyPr>
          <a:lstStyle/>
          <a:p>
            <a:pPr>
              <a:buNone/>
            </a:pPr>
            <a:endParaRPr lang="en-US" sz="200" dirty="0"/>
          </a:p>
          <a:p>
            <a:pPr>
              <a:lnSpc>
                <a:spcPct val="130000"/>
              </a:lnSpc>
              <a:buNone/>
            </a:pPr>
            <a:r>
              <a:rPr lang="en-US" sz="1900" b="0" dirty="0">
                <a:solidFill>
                  <a:srgbClr val="1A1A1A"/>
                </a:solidFill>
                <a:latin typeface="Times New Roman" pitchFamily="18" charset="0"/>
                <a:cs typeface="Times New Roman" pitchFamily="18" charset="0"/>
              </a:rPr>
              <a:t>The KLH college canteen serves hundreds of students daily during short break periods. Traditional</a:t>
            </a:r>
          </a:p>
          <a:p>
            <a:pPr>
              <a:lnSpc>
                <a:spcPct val="130000"/>
              </a:lnSpc>
              <a:buNone/>
            </a:pPr>
            <a:r>
              <a:rPr lang="en-US" sz="1900" b="0" dirty="0">
                <a:solidFill>
                  <a:srgbClr val="1A1A1A"/>
                </a:solidFill>
                <a:latin typeface="Times New Roman" pitchFamily="18" charset="0"/>
                <a:cs typeface="Times New Roman" pitchFamily="18" charset="0"/>
              </a:rPr>
              <a:t>queue-based ordering causes significant time waste and operational challenges for canteen staff.</a:t>
            </a:r>
          </a:p>
          <a:p>
            <a:pPr>
              <a:buNone/>
            </a:pPr>
            <a:endParaRPr lang="en-US" sz="200" dirty="0"/>
          </a:p>
          <a:p>
            <a:pPr>
              <a:spcBef>
                <a:spcPts val="200"/>
              </a:spcBef>
              <a:buNone/>
            </a:pPr>
            <a:r>
              <a:rPr lang="en-US" sz="2200" b="1" dirty="0">
                <a:solidFill>
                  <a:srgbClr val="2E74B5"/>
                </a:solidFill>
                <a:latin typeface="Times New Roman" pitchFamily="18" charset="0"/>
                <a:cs typeface="Times New Roman" pitchFamily="18" charset="0"/>
              </a:rPr>
              <a:t>What is the Canteen Token System?</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Students pre-order meals from their devices before break time</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Receive a unique QR-coded token for contactless pickup at counter</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Track real-time order status through in-app notifications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View past orders and payment history anytime</a:t>
            </a:r>
          </a:p>
          <a:p>
            <a:pPr>
              <a:buNone/>
            </a:pPr>
            <a:endParaRPr lang="en-US" sz="200" dirty="0"/>
          </a:p>
          <a:p>
            <a:pPr>
              <a:spcBef>
                <a:spcPts val="200"/>
              </a:spcBef>
              <a:buNone/>
            </a:pPr>
            <a:r>
              <a:rPr lang="en-US" sz="2200" b="1" dirty="0">
                <a:solidFill>
                  <a:srgbClr val="2E74B5"/>
                </a:solidFill>
                <a:latin typeface="Times New Roman" pitchFamily="18" charset="0"/>
                <a:cs typeface="Times New Roman" pitchFamily="18" charset="0"/>
              </a:rPr>
              <a:t>Admin Capabilities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Manage menu items and toggle daily availability</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View and process incoming orders in real time</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Access billing dashboard with revenue reports and stats</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457200" y="1143001"/>
            <a:ext cx="8229600" cy="4983164"/>
          </a:xfrm>
        </p:spPr>
        <p:txBody>
          <a:bodyPr/>
          <a:lstStyle/>
          <a:p>
            <a:pPr>
              <a:buNone/>
            </a:pPr>
            <a:endParaRPr lang="en-US" sz="200" dirty="0"/>
          </a:p>
          <a:p>
            <a:pPr>
              <a:lnSpc>
                <a:spcPct val="130000"/>
              </a:lnSpc>
              <a:buNone/>
            </a:pPr>
            <a:r>
              <a:rPr lang="en-US" sz="1900" b="0" dirty="0">
                <a:solidFill>
                  <a:srgbClr val="1A1A1A"/>
                </a:solidFill>
                <a:latin typeface="Times New Roman" pitchFamily="18" charset="0"/>
                <a:cs typeface="Times New Roman" pitchFamily="18" charset="0"/>
              </a:rPr>
              <a:t>KLH University students face the following challenges at the college canteen:</a:t>
            </a:r>
          </a:p>
          <a:p>
            <a:pPr>
              <a:buNone/>
            </a:pPr>
            <a:endParaRPr lang="en-US" sz="150" dirty="0"/>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Long queues during short break periods (10-15 min) result in students missing meals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Manual order tracking leads to errors, missed orders, and wrong item delivery</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Students have no prior visibility into daily menu availability or sold-out items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Cash handling at counter causes delays and is unhygienic in a post-pandemic setting</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Canteen staff have no digital record of orders, leading to billing inaccuracies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No system exists to cap per-student orders, causing resource and food wastage</a:t>
            </a:r>
          </a:p>
          <a:p>
            <a:pPr>
              <a:buNone/>
            </a:pPr>
            <a:endParaRPr lang="en-US" sz="200" dirty="0"/>
          </a:p>
          <a:p>
            <a:pPr>
              <a:lnSpc>
                <a:spcPct val="130000"/>
              </a:lnSpc>
              <a:buNone/>
            </a:pPr>
            <a:r>
              <a:rPr lang="en-US" sz="1900" b="0" dirty="0">
                <a:solidFill>
                  <a:srgbClr val="1A1A1A"/>
                </a:solidFill>
                <a:latin typeface="Times New Roman" pitchFamily="18" charset="0"/>
                <a:cs typeface="Times New Roman" pitchFamily="18" charset="0"/>
              </a:rPr>
              <a:t>These issues directly impact student well-being, canteen efficiency, and academic punctuality.</a:t>
            </a:r>
          </a:p>
          <a:p>
            <a:pPr>
              <a:lnSpc>
                <a:spcPct val="130000"/>
              </a:lnSpc>
              <a:buNone/>
            </a:pPr>
            <a:r>
              <a:rPr lang="en-US" sz="1900" b="0" dirty="0">
                <a:solidFill>
                  <a:srgbClr val="1A1A1A"/>
                </a:solidFill>
                <a:latin typeface="Times New Roman" pitchFamily="18" charset="0"/>
                <a:cs typeface="Times New Roman" pitchFamily="18" charset="0"/>
              </a:rPr>
              <a:t>A digital token-based pre-ordering system is the ideal solution for KLH campus.</a:t>
            </a: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6" name="Content Placeholder 5">
            <a:extLst>
              <a:ext uri="{FF2B5EF4-FFF2-40B4-BE49-F238E27FC236}">
                <a16:creationId xmlns:a16="http://schemas.microsoft.com/office/drawing/2014/main" id="{6D0CB615-9C29-90F0-6B63-511C36A239F2}"/>
              </a:ext>
            </a:extLst>
          </p:cNvPr>
          <p:cNvPicPr>
            <a:picLocks noGrp="1" noChangeAspect="1"/>
          </p:cNvPicPr>
          <p:nvPr>
            <p:ph idx="1"/>
          </p:nvPr>
        </p:nvPicPr>
        <p:blipFill>
          <a:blip r:embed="rId2"/>
          <a:stretch>
            <a:fillRect/>
          </a:stretch>
        </p:blipFill>
        <p:spPr>
          <a:xfrm>
            <a:off x="2057400" y="1143000"/>
            <a:ext cx="5638800" cy="5334000"/>
          </a:xfrm>
          <a:prstGeom prst="rect">
            <a:avLst/>
          </a:prstGeom>
        </p:spPr>
      </p:pic>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lstStyle/>
          <a:p>
            <a:pPr>
              <a:buNone/>
            </a:pPr>
            <a:endParaRPr lang="en-US" sz="150" dirty="0"/>
          </a:p>
          <a:p>
            <a:pPr>
              <a:spcBef>
                <a:spcPts val="200"/>
              </a:spcBef>
              <a:buNone/>
            </a:pPr>
            <a:r>
              <a:rPr lang="en-US" sz="2200" b="1" dirty="0">
                <a:solidFill>
                  <a:srgbClr val="2E74B5"/>
                </a:solidFill>
                <a:latin typeface="Times New Roman" pitchFamily="18" charset="0"/>
                <a:cs typeface="Times New Roman" pitchFamily="18" charset="0"/>
              </a:rPr>
              <a:t>Objective 1: Eliminate Queue Time</a:t>
            </a:r>
          </a:p>
          <a:p>
            <a:pPr>
              <a:lnSpc>
                <a:spcPct val="130000"/>
              </a:lnSpc>
              <a:buNone/>
            </a:pPr>
            <a:r>
              <a:rPr lang="en-US" sz="1800" b="0" dirty="0">
                <a:solidFill>
                  <a:srgbClr val="1A1A1A"/>
                </a:solidFill>
                <a:latin typeface="Times New Roman" pitchFamily="18" charset="0"/>
                <a:cs typeface="Times New Roman" pitchFamily="18" charset="0"/>
              </a:rPr>
              <a:t>Allow students to pre-order meals online, removing the need to stand in canteen queues.</a:t>
            </a:r>
          </a:p>
          <a:p>
            <a:pPr>
              <a:buNone/>
            </a:pPr>
            <a:endParaRPr lang="en-US" sz="120" dirty="0"/>
          </a:p>
          <a:p>
            <a:pPr>
              <a:spcBef>
                <a:spcPts val="200"/>
              </a:spcBef>
              <a:buNone/>
            </a:pPr>
            <a:r>
              <a:rPr lang="en-US" sz="2200" b="1" dirty="0">
                <a:solidFill>
                  <a:srgbClr val="2E74B5"/>
                </a:solidFill>
                <a:latin typeface="Times New Roman" pitchFamily="18" charset="0"/>
                <a:cs typeface="Times New Roman" pitchFamily="18" charset="0"/>
              </a:rPr>
              <a:t>Objective 2: QR-Based Contactless Pickup</a:t>
            </a:r>
          </a:p>
          <a:p>
            <a:pPr>
              <a:lnSpc>
                <a:spcPct val="130000"/>
              </a:lnSpc>
              <a:buNone/>
            </a:pPr>
            <a:r>
              <a:rPr lang="en-US" sz="1800" b="0" dirty="0">
                <a:solidFill>
                  <a:srgbClr val="1A1A1A"/>
                </a:solidFill>
                <a:latin typeface="Times New Roman" pitchFamily="18" charset="0"/>
                <a:cs typeface="Times New Roman" pitchFamily="18" charset="0"/>
              </a:rPr>
              <a:t>Generate a unique QR token per order enabling hygienic, fast, contactless collection.</a:t>
            </a:r>
          </a:p>
          <a:p>
            <a:pPr>
              <a:buNone/>
            </a:pPr>
            <a:endParaRPr lang="en-US" sz="120" dirty="0"/>
          </a:p>
          <a:p>
            <a:pPr>
              <a:spcBef>
                <a:spcPts val="200"/>
              </a:spcBef>
              <a:buNone/>
            </a:pPr>
            <a:r>
              <a:rPr lang="en-US" sz="2200" b="1" dirty="0">
                <a:solidFill>
                  <a:srgbClr val="2E74B5"/>
                </a:solidFill>
                <a:latin typeface="Times New Roman" pitchFamily="18" charset="0"/>
                <a:cs typeface="Times New Roman" pitchFamily="18" charset="0"/>
              </a:rPr>
              <a:t>Objective 3: Enforce Fair Daily Usage</a:t>
            </a:r>
          </a:p>
          <a:p>
            <a:pPr>
              <a:lnSpc>
                <a:spcPct val="130000"/>
              </a:lnSpc>
              <a:buNone/>
            </a:pPr>
            <a:r>
              <a:rPr lang="en-US" sz="1800" b="0" dirty="0">
                <a:solidFill>
                  <a:srgbClr val="1A1A1A"/>
                </a:solidFill>
                <a:latin typeface="Times New Roman" pitchFamily="18" charset="0"/>
                <a:cs typeface="Times New Roman" pitchFamily="18" charset="0"/>
              </a:rPr>
              <a:t>Implement a daily cap of 3 orders per student to ensure fair distribution of meals.</a:t>
            </a:r>
          </a:p>
          <a:p>
            <a:pPr>
              <a:buNone/>
            </a:pPr>
            <a:endParaRPr lang="en-US" sz="120" dirty="0"/>
          </a:p>
          <a:p>
            <a:pPr>
              <a:spcBef>
                <a:spcPts val="200"/>
              </a:spcBef>
              <a:buNone/>
            </a:pPr>
            <a:r>
              <a:rPr lang="en-US" sz="2200" b="1" dirty="0">
                <a:solidFill>
                  <a:srgbClr val="2E74B5"/>
                </a:solidFill>
                <a:latin typeface="Times New Roman" pitchFamily="18" charset="0"/>
                <a:cs typeface="Times New Roman" pitchFamily="18" charset="0"/>
              </a:rPr>
              <a:t>Objective 4: Real-Time Admin Control</a:t>
            </a:r>
          </a:p>
          <a:p>
            <a:pPr>
              <a:lnSpc>
                <a:spcPct val="130000"/>
              </a:lnSpc>
              <a:buNone/>
            </a:pPr>
            <a:r>
              <a:rPr lang="en-US" sz="1800" b="0" dirty="0">
                <a:solidFill>
                  <a:srgbClr val="1A1A1A"/>
                </a:solidFill>
                <a:latin typeface="Times New Roman" pitchFamily="18" charset="0"/>
                <a:cs typeface="Times New Roman" pitchFamily="18" charset="0"/>
              </a:rPr>
              <a:t>Provide canteen staff with a live dashboard to manage menu, orders, and revenue.</a:t>
            </a:r>
          </a:p>
          <a:p>
            <a:pPr>
              <a:buNone/>
            </a:pPr>
            <a:endParaRPr lang="en-US" sz="120" dirty="0"/>
          </a:p>
          <a:p>
            <a:pPr>
              <a:spcBef>
                <a:spcPts val="200"/>
              </a:spcBef>
              <a:buNone/>
            </a:pPr>
            <a:r>
              <a:rPr lang="en-US" sz="2200" b="1" dirty="0">
                <a:solidFill>
                  <a:srgbClr val="2E74B5"/>
                </a:solidFill>
                <a:latin typeface="Times New Roman" pitchFamily="18" charset="0"/>
                <a:cs typeface="Times New Roman" pitchFamily="18" charset="0"/>
              </a:rPr>
              <a:t>Objective 5: Dietary Preference Support</a:t>
            </a:r>
          </a:p>
          <a:p>
            <a:pPr>
              <a:lnSpc>
                <a:spcPct val="130000"/>
              </a:lnSpc>
              <a:buNone/>
            </a:pPr>
            <a:r>
              <a:rPr lang="en-US" sz="1800" b="0" dirty="0">
                <a:solidFill>
                  <a:srgbClr val="1A1A1A"/>
                </a:solidFill>
                <a:latin typeface="Times New Roman" pitchFamily="18" charset="0"/>
                <a:cs typeface="Times New Roman" pitchFamily="18" charset="0"/>
              </a:rPr>
              <a:t>Allow students to filter menu by vegetarian or non-vegetarian preference easily.</a:t>
            </a:r>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p:txBody>
          <a:bodyPr>
            <a:normAutofit fontScale="85000" lnSpcReduction="10000"/>
          </a:bodyPr>
          <a:lstStyle/>
          <a:p>
            <a:pPr>
              <a:buNone/>
            </a:pPr>
            <a:endParaRPr lang="en-US" sz="150" dirty="0"/>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1: Menu Display — Daily menu with veg/non-veg filters &amp; availability badges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2: Token Form — Order form with item selection, quantity control &amp; special notes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3: Dietary Filter — Filter menu items by vegetarian or non-vegetarian preference</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4: Daily Limit — Progress bar tracking 3-order daily cap per student</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5: Payment Mock — UPI / Debit Card / Cash at Counter with GST calculation</a:t>
            </a:r>
          </a:p>
          <a:p>
            <a:pPr>
              <a:buNone/>
            </a:pPr>
            <a:endParaRPr lang="en-US" sz="150" dirty="0"/>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6: Token QR Generation — Unique QR-coded token for contactless pickup</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7: Billing Dashboard — Revenue stats, category breakdown &amp; transaction table</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8: Order History — Past orders filtered by student roll number</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9: Notifications — Real-time alerts for order status &amp; canteen announcements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Module 10: Admin Panel — Manage menu, mark orders ready &amp; configure settings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12291-FF6E-010D-9FC5-15D83C6B4E8B}"/>
              </a:ext>
            </a:extLst>
          </p:cNvPr>
          <p:cNvSpPr>
            <a:spLocks noGrp="1"/>
          </p:cNvSpPr>
          <p:nvPr>
            <p:ph type="title"/>
          </p:nvPr>
        </p:nvSpPr>
        <p:spPr/>
        <p:txBody>
          <a:bodyPr/>
          <a:lstStyle/>
          <a:p>
            <a:r>
              <a:rPr lang="en-IN" dirty="0">
                <a:solidFill>
                  <a:schemeClr val="accent1"/>
                </a:solidFill>
              </a:rPr>
              <a:t>CO Mapping</a:t>
            </a:r>
          </a:p>
        </p:txBody>
      </p:sp>
      <p:pic>
        <p:nvPicPr>
          <p:cNvPr id="5" name="Content Placeholder 4">
            <a:extLst>
              <a:ext uri="{FF2B5EF4-FFF2-40B4-BE49-F238E27FC236}">
                <a16:creationId xmlns:a16="http://schemas.microsoft.com/office/drawing/2014/main" id="{2ED35AF4-6DC5-D5EE-92CB-A92D7D3AE312}"/>
              </a:ext>
            </a:extLst>
          </p:cNvPr>
          <p:cNvPicPr>
            <a:picLocks noGrp="1" noChangeAspect="1"/>
          </p:cNvPicPr>
          <p:nvPr>
            <p:ph idx="1"/>
          </p:nvPr>
        </p:nvPicPr>
        <p:blipFill>
          <a:blip r:embed="rId2"/>
          <a:stretch>
            <a:fillRect/>
          </a:stretch>
        </p:blipFill>
        <p:spPr>
          <a:xfrm>
            <a:off x="1934304" y="1600200"/>
            <a:ext cx="5275391" cy="4525963"/>
          </a:xfrm>
          <a:prstGeom prst="rect">
            <a:avLst/>
          </a:prstGeom>
        </p:spPr>
      </p:pic>
      <p:pic>
        <p:nvPicPr>
          <p:cNvPr id="7" name="Picture 6">
            <a:extLst>
              <a:ext uri="{FF2B5EF4-FFF2-40B4-BE49-F238E27FC236}">
                <a16:creationId xmlns:a16="http://schemas.microsoft.com/office/drawing/2014/main" id="{C633DF4F-BE5D-B604-1107-1D4A65727368}"/>
              </a:ext>
            </a:extLst>
          </p:cNvPr>
          <p:cNvPicPr>
            <a:picLocks noChangeAspect="1"/>
          </p:cNvPicPr>
          <p:nvPr/>
        </p:nvPicPr>
        <p:blipFill>
          <a:blip r:embed="rId3"/>
          <a:stretch>
            <a:fillRect/>
          </a:stretch>
        </p:blipFill>
        <p:spPr>
          <a:xfrm>
            <a:off x="152400" y="92076"/>
            <a:ext cx="1292464" cy="640135"/>
          </a:xfrm>
          <a:prstGeom prst="rect">
            <a:avLst/>
          </a:prstGeom>
        </p:spPr>
      </p:pic>
    </p:spTree>
    <p:extLst>
      <p:ext uri="{BB962C8B-B14F-4D97-AF65-F5344CB8AC3E}">
        <p14:creationId xmlns:p14="http://schemas.microsoft.com/office/powerpoint/2010/main" val="3310875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685800"/>
            <a:ext cx="8229600" cy="5440365"/>
          </a:xfrm>
        </p:spPr>
        <p:txBody>
          <a:bodyPr>
            <a:normAutofit fontScale="92500"/>
          </a:bodyPr>
          <a:lstStyle/>
          <a:p>
            <a:pPr>
              <a:buNone/>
            </a:pPr>
            <a:endParaRPr lang="en-US" sz="150" dirty="0"/>
          </a:p>
          <a:p>
            <a:pPr>
              <a:lnSpc>
                <a:spcPct val="130000"/>
              </a:lnSpc>
              <a:buNone/>
            </a:pPr>
            <a:r>
              <a:rPr lang="en-US" sz="1900" b="0" dirty="0">
                <a:solidFill>
                  <a:srgbClr val="1A1A1A"/>
                </a:solidFill>
                <a:latin typeface="Times New Roman" pitchFamily="18" charset="0"/>
                <a:cs typeface="Times New Roman" pitchFamily="18" charset="0"/>
              </a:rPr>
              <a:t>By the end of this project, the following outcomes are expected:</a:t>
            </a:r>
          </a:p>
          <a:p>
            <a:pPr>
              <a:buNone/>
            </a:pPr>
            <a:endParaRPr lang="en-US" sz="100" dirty="0"/>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Students can pre-order meals and skip canteen queues entirely during break time</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A QR-coded token system enables contactless, error-free order pickup at the counter</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Canteen staff gain real-time visibility of all orders through the admin panel</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Daily revenue, category-wise sales, and transaction history are tracked digitally</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Per-student daily order limits reduce food wastage and ensure fair access to meals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Dietary preferences are respected through built-in veg/non-veg menu filtering</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Students receive timely notifications when their order is ready for pickup</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A working full-stack Node.js + Express.js REST API application is demonstrated</a:t>
            </a:r>
          </a:p>
          <a:p>
            <a:pPr>
              <a:buNone/>
            </a:pPr>
            <a:endParaRPr lang="en-US" sz="150" dirty="0"/>
          </a:p>
          <a:p>
            <a:pPr>
              <a:lnSpc>
                <a:spcPct val="130000"/>
              </a:lnSpc>
              <a:buNone/>
            </a:pPr>
            <a:r>
              <a:rPr lang="en-US" sz="1800" b="0" dirty="0">
                <a:solidFill>
                  <a:srgbClr val="1A1A1A"/>
                </a:solidFill>
                <a:latin typeface="Times New Roman" pitchFamily="18" charset="0"/>
                <a:cs typeface="Times New Roman" pitchFamily="18" charset="0"/>
              </a:rPr>
              <a:t>Overall Impact: Improved canteen efficiency, reduced student wait time, and a digitally</a:t>
            </a:r>
          </a:p>
          <a:p>
            <a:pPr>
              <a:lnSpc>
                <a:spcPct val="130000"/>
              </a:lnSpc>
              <a:buNone/>
            </a:pPr>
            <a:r>
              <a:rPr lang="en-US" sz="1800" b="0" dirty="0">
                <a:solidFill>
                  <a:srgbClr val="1A1A1A"/>
                </a:solidFill>
                <a:latin typeface="Times New Roman" pitchFamily="18" charset="0"/>
                <a:cs typeface="Times New Roman" pitchFamily="18" charset="0"/>
              </a:rPr>
              <a:t>managed, hygienic meal ordering experience for the entire KLH campus.</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868361"/>
            <a:ext cx="8229600" cy="5257803"/>
          </a:xfrm>
        </p:spPr>
        <p:txBody>
          <a:bodyPr>
            <a:normAutofit/>
          </a:bodyPr>
          <a:lstStyle/>
          <a:p>
            <a:pPr>
              <a:buNone/>
            </a:pPr>
            <a:endParaRPr lang="en-US" sz="150" dirty="0"/>
          </a:p>
          <a:p>
            <a:pPr>
              <a:spcBef>
                <a:spcPts val="200"/>
              </a:spcBef>
              <a:buNone/>
            </a:pPr>
            <a:r>
              <a:rPr lang="en-US" sz="2200" b="1" dirty="0">
                <a:solidFill>
                  <a:srgbClr val="2E74B5"/>
                </a:solidFill>
                <a:latin typeface="Times New Roman" pitchFamily="18" charset="0"/>
                <a:cs typeface="Times New Roman" pitchFamily="18" charset="0"/>
              </a:rPr>
              <a:t>Conclusion</a:t>
            </a:r>
          </a:p>
          <a:p>
            <a:pPr>
              <a:lnSpc>
                <a:spcPct val="130000"/>
              </a:lnSpc>
              <a:buNone/>
            </a:pPr>
            <a:r>
              <a:rPr lang="en-US" sz="1900" b="0" dirty="0">
                <a:solidFill>
                  <a:srgbClr val="1A1A1A"/>
                </a:solidFill>
                <a:latin typeface="Times New Roman" pitchFamily="18" charset="0"/>
                <a:cs typeface="Times New Roman" pitchFamily="18" charset="0"/>
              </a:rPr>
              <a:t>The College Canteen Token System addresses the core problem of long queues and inefficient order management at KLH's canteen. By combining a student-friendly frontend with a robust Node.js backend and 10 well-defined modules, the application delivers a complete, practical, and deployable solution for the KLH campus environment.</a:t>
            </a:r>
          </a:p>
          <a:p>
            <a:pPr>
              <a:buNone/>
            </a:pPr>
            <a:endParaRPr lang="en-US" sz="200" dirty="0"/>
          </a:p>
          <a:p>
            <a:pPr>
              <a:spcBef>
                <a:spcPts val="200"/>
              </a:spcBef>
              <a:buNone/>
            </a:pPr>
            <a:r>
              <a:rPr lang="en-US" sz="2200" b="1" dirty="0">
                <a:solidFill>
                  <a:srgbClr val="2E74B5"/>
                </a:solidFill>
                <a:latin typeface="Times New Roman" pitchFamily="18" charset="0"/>
                <a:cs typeface="Times New Roman" pitchFamily="18" charset="0"/>
              </a:rPr>
              <a:t>Future Scope</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Integration with real UPI/payment gateway (Razorpay / PayU)</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MySQL database for persistent order and menu storage instead of LocalStorage</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Mobile app version using React Native for easier student access</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Facial recognition or RFID-based token verification at the counter</a:t>
            </a:r>
          </a:p>
          <a:p>
            <a:pPr marL="342900" indent="-342900">
              <a:lnSpc>
                <a:spcPct val="120000"/>
              </a:lnSpc>
              <a:buFont typeface="Arial"/>
              <a:buChar char="•"/>
            </a:pPr>
            <a:r>
              <a:rPr lang="en-US" sz="1900" b="0" dirty="0">
                <a:solidFill>
                  <a:srgbClr val="1A1A1A"/>
                </a:solidFill>
                <a:latin typeface="Times New Roman" pitchFamily="18" charset="0"/>
                <a:cs typeface="Times New Roman" pitchFamily="18" charset="0"/>
              </a:rPr>
              <a:t>AI-based meal recommendation engine based on student order history</a:t>
            </a: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lstStyle/>
          <a:p>
            <a:pPr>
              <a:buNone/>
            </a:pPr>
            <a:endParaRPr lang="en-US" sz="200" dirty="0"/>
          </a:p>
          <a:p>
            <a:pPr>
              <a:lnSpc>
                <a:spcPct val="130000"/>
              </a:lnSpc>
              <a:buNone/>
            </a:pPr>
            <a:r>
              <a:rPr lang="en-US" sz="1900" b="0" dirty="0">
                <a:solidFill>
                  <a:srgbClr val="1A1A1A"/>
                </a:solidFill>
                <a:latin typeface="Times New Roman" pitchFamily="18" charset="0"/>
                <a:cs typeface="Times New Roman" pitchFamily="18" charset="0"/>
              </a:rPr>
              <a:t>[1]  Node.js Documentation — https://nodejs.org/en/docs</a:t>
            </a:r>
          </a:p>
          <a:p>
            <a:pPr>
              <a:buNone/>
            </a:pPr>
            <a:endParaRPr lang="en-US" sz="100" dirty="0"/>
          </a:p>
          <a:p>
            <a:pPr>
              <a:lnSpc>
                <a:spcPct val="130000"/>
              </a:lnSpc>
              <a:buNone/>
            </a:pPr>
            <a:r>
              <a:rPr lang="en-US" sz="1900" b="0" dirty="0">
                <a:solidFill>
                  <a:srgbClr val="1A1A1A"/>
                </a:solidFill>
                <a:latin typeface="Times New Roman" pitchFamily="18" charset="0"/>
                <a:cs typeface="Times New Roman" pitchFamily="18" charset="0"/>
              </a:rPr>
              <a:t>[2]  Express.js Documentation — https://expressjs.com/</a:t>
            </a:r>
          </a:p>
          <a:p>
            <a:pPr>
              <a:buNone/>
            </a:pPr>
            <a:endParaRPr lang="en-US" sz="100" dirty="0"/>
          </a:p>
          <a:p>
            <a:pPr>
              <a:lnSpc>
                <a:spcPct val="130000"/>
              </a:lnSpc>
              <a:buNone/>
            </a:pPr>
            <a:r>
              <a:rPr lang="en-US" sz="1900" b="0" dirty="0">
                <a:solidFill>
                  <a:srgbClr val="1A1A1A"/>
                </a:solidFill>
                <a:latin typeface="Times New Roman" pitchFamily="18" charset="0"/>
                <a:cs typeface="Times New Roman" pitchFamily="18" charset="0"/>
              </a:rPr>
              <a:t>[3]  MDN Web Docs: HTML5, CSS3, JavaScript — https://developer.mozilla.org</a:t>
            </a:r>
          </a:p>
          <a:p>
            <a:pPr>
              <a:buNone/>
            </a:pPr>
            <a:endParaRPr lang="en-US" sz="100" dirty="0"/>
          </a:p>
          <a:p>
            <a:pPr>
              <a:lnSpc>
                <a:spcPct val="130000"/>
              </a:lnSpc>
              <a:buNone/>
            </a:pPr>
            <a:r>
              <a:rPr lang="en-US" sz="1900" b="0" dirty="0">
                <a:solidFill>
                  <a:srgbClr val="1A1A1A"/>
                </a:solidFill>
                <a:latin typeface="Times New Roman" pitchFamily="18" charset="0"/>
                <a:cs typeface="Times New Roman" pitchFamily="18" charset="0"/>
              </a:rPr>
              <a:t>[4]  qrcode npm Package — https://www.npmjs.com/package/qrcode</a:t>
            </a:r>
          </a:p>
          <a:p>
            <a:pPr>
              <a:buNone/>
            </a:pPr>
            <a:endParaRPr lang="en-US" sz="100" dirty="0"/>
          </a:p>
          <a:p>
            <a:pPr>
              <a:lnSpc>
                <a:spcPct val="130000"/>
              </a:lnSpc>
              <a:buNone/>
            </a:pPr>
            <a:r>
              <a:rPr lang="en-US" sz="1900" b="0" dirty="0">
                <a:solidFill>
                  <a:srgbClr val="1A1A1A"/>
                </a:solidFill>
                <a:latin typeface="Times New Roman" pitchFamily="18" charset="0"/>
                <a:cs typeface="Times New Roman" pitchFamily="18" charset="0"/>
              </a:rPr>
              <a:t>[5]  Postman API Testing Tool — https://www.postman.com/</a:t>
            </a:r>
          </a:p>
          <a:p>
            <a:pPr>
              <a:buNone/>
            </a:pPr>
            <a:endParaRPr lang="en-US" sz="100" dirty="0"/>
          </a:p>
          <a:p>
            <a:pPr>
              <a:lnSpc>
                <a:spcPct val="130000"/>
              </a:lnSpc>
              <a:buNone/>
            </a:pPr>
            <a:r>
              <a:rPr lang="en-US" sz="1900" b="0" dirty="0">
                <a:solidFill>
                  <a:srgbClr val="1A1A1A"/>
                </a:solidFill>
                <a:latin typeface="Times New Roman" pitchFamily="18" charset="0"/>
                <a:cs typeface="Times New Roman" pitchFamily="18" charset="0"/>
              </a:rPr>
              <a:t>[6]  KLH University Official Website — https://www.klh.edu.in</a:t>
            </a:r>
          </a:p>
          <a:p>
            <a:pPr>
              <a:buNone/>
            </a:pPr>
            <a:endParaRPr lang="en-US" sz="100" dirty="0"/>
          </a:p>
          <a:p>
            <a:pPr>
              <a:lnSpc>
                <a:spcPct val="130000"/>
              </a:lnSpc>
              <a:buNone/>
            </a:pPr>
            <a:r>
              <a:rPr lang="en-US" sz="1900" b="0" dirty="0">
                <a:solidFill>
                  <a:srgbClr val="1A1A1A"/>
                </a:solidFill>
                <a:latin typeface="Times New Roman" pitchFamily="18" charset="0"/>
                <a:cs typeface="Times New Roman" pitchFamily="18" charset="0"/>
              </a:rPr>
              <a:t>[7]  Roy Fielding, Architectural Styles and the Design of Network-based Software</a:t>
            </a:r>
          </a:p>
          <a:p>
            <a:pPr>
              <a:lnSpc>
                <a:spcPct val="130000"/>
              </a:lnSpc>
              <a:buNone/>
            </a:pPr>
            <a:r>
              <a:rPr lang="en-US" sz="1900" b="0" dirty="0">
                <a:solidFill>
                  <a:srgbClr val="1A1A1A"/>
                </a:solidFill>
                <a:latin typeface="Times New Roman" pitchFamily="18" charset="0"/>
                <a:cs typeface="Times New Roman" pitchFamily="18" charset="0"/>
              </a:rPr>
              <a:t>      Architectures, University of California, Irvine, 2000.</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1967</TotalTime>
  <Words>1268</Words>
  <Application>Microsoft Office PowerPoint</Application>
  <PresentationFormat>On-screen Show (4:3)</PresentationFormat>
  <Paragraphs>135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 A Project Review Meeting    on College Canteen Token System</vt:lpstr>
      <vt:lpstr>Outline of the Presentation</vt:lpstr>
      <vt:lpstr>Abstract</vt:lpstr>
      <vt:lpstr>Introduction</vt:lpstr>
      <vt:lpstr>Problem Statement </vt:lpstr>
      <vt:lpstr>Project Flow Diagram</vt:lpstr>
      <vt:lpstr>Objectives with Justification </vt:lpstr>
      <vt:lpstr>Modules [Frontend web pages]</vt:lpstr>
      <vt:lpstr>CO Mapping</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Bhargavi Vutharavalli</cp:lastModifiedBy>
  <cp:revision>200</cp:revision>
  <dcterms:created xsi:type="dcterms:W3CDTF">2006-08-16T00:00:00Z</dcterms:created>
  <dcterms:modified xsi:type="dcterms:W3CDTF">2026-06-19T05:23:37Z</dcterms:modified>
</cp:coreProperties>
</file>