
<file path=[Content_Types].xml><?xml version="1.0" encoding="utf-8"?>
<Types xmlns="http://schemas.openxmlformats.org/package/2006/content-types">
  <Default Extension="jpeg" ContentType="image/jpeg"/>
  <Default Extension="jp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86" r:id="rId2"/>
    <p:sldId id="260" r:id="rId3"/>
    <p:sldId id="278" r:id="rId4"/>
    <p:sldId id="257" r:id="rId5"/>
    <p:sldId id="321" r:id="rId6"/>
    <p:sldId id="326" r:id="rId7"/>
    <p:sldId id="322" r:id="rId8"/>
    <p:sldId id="323" r:id="rId9"/>
    <p:sldId id="324" r:id="rId10"/>
    <p:sldId id="277" r:id="rId11"/>
    <p:sldId id="320" r:id="rId12"/>
    <p:sldId id="327" r:id="rId13"/>
  </p:sldIdLst>
  <p:sldSz cx="9144000" cy="6858000" type="screen4x3"/>
  <p:notesSz cx="9144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84" d="100"/>
          <a:sy n="84" d="100"/>
        </p:scale>
        <p:origin x="142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0578FE-A624-4D92-B093-82C1BFA47D1F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82A2A7-8E58-4AA3-854C-AFDBFBEC253A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6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4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1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1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1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1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1"/>
            <a:ext cx="5111751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35101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1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9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9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9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1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1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1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1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hyperlink" Target="http://www.klh.edu.in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0"/>
            <a:ext cx="7772400" cy="1201361"/>
          </a:xfrm>
        </p:spPr>
        <p:txBody>
          <a:bodyPr>
            <a:normAutofit fontScale="90000"/>
          </a:bodyPr>
          <a:lstStyle/>
          <a:p>
            <a:pPr>
              <a:defRPr/>
            </a:pPr>
            <a:br>
              <a:rPr lang="en-US" sz="1800" b="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</a:br>
            <a:r>
              <a:rPr lang="en-US" sz="2200" b="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</a:t>
            </a:r>
            <a:br>
              <a:rPr lang="en-US" sz="1800" b="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</a:br>
            <a:r>
              <a:rPr lang="en-US" sz="3600" b="1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Project Review Meeting  </a:t>
            </a:r>
            <a:br>
              <a:rPr lang="en-US" sz="2200" dirty="0">
                <a:latin typeface="Times New Roman" pitchFamily="18" charset="0"/>
                <a:cs typeface="Times New Roman" pitchFamily="18" charset="0"/>
              </a:rPr>
            </a:br>
            <a:r>
              <a:rPr lang="en-US" sz="2200" b="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on</a:t>
            </a:r>
            <a:br>
              <a:rPr lang="en-US" sz="2200" dirty="0">
                <a:latin typeface="Times New Roman" pitchFamily="18" charset="0"/>
                <a:cs typeface="Times New Roman" pitchFamily="18" charset="0"/>
              </a:rPr>
            </a:br>
            <a:r>
              <a:rPr lang="en-US" sz="3200" dirty="0">
                <a:latin typeface="Times New Roman" pitchFamily="18" charset="0"/>
                <a:cs typeface="Times New Roman" pitchFamily="18" charset="0"/>
              </a:rPr>
              <a:t>College Canteen Token System</a:t>
            </a:r>
            <a:endParaRPr lang="en-US" sz="4000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81000" y="1366277"/>
            <a:ext cx="8458200" cy="2895600"/>
          </a:xfrm>
        </p:spPr>
        <p:txBody>
          <a:bodyPr>
            <a:normAutofit fontScale="40000" lnSpcReduction="20000"/>
          </a:bodyPr>
          <a:lstStyle/>
          <a:p>
            <a:pPr marR="0" algn="ctr" eaLnBrk="1" hangingPunct="1">
              <a:lnSpc>
                <a:spcPct val="80000"/>
              </a:lnSpc>
              <a:defRPr/>
            </a:pPr>
            <a:endParaRPr lang="en-US" sz="2000" dirty="0">
              <a:solidFill>
                <a:srgbClr val="0D0D0D"/>
              </a:solidFill>
              <a:latin typeface="Times New Roman" pitchFamily="18" charset="0"/>
              <a:cs typeface="Times New Roman" pitchFamily="18" charset="0"/>
            </a:endParaRPr>
          </a:p>
          <a:p>
            <a:pPr marR="0" algn="ctr" eaLnBrk="1" hangingPunct="1">
              <a:lnSpc>
                <a:spcPct val="80000"/>
              </a:lnSpc>
              <a:defRPr/>
            </a:pPr>
            <a:endParaRPr lang="en-US" sz="2600" b="1" dirty="0">
              <a:solidFill>
                <a:srgbClr val="00B0F0"/>
              </a:solidFill>
              <a:latin typeface="Times New Roman" pitchFamily="18" charset="0"/>
              <a:cs typeface="Times New Roman" pitchFamily="18" charset="0"/>
            </a:endParaRPr>
          </a:p>
          <a:p>
            <a:pPr marR="0" algn="ctr" eaLnBrk="1" hangingPunct="1">
              <a:lnSpc>
                <a:spcPct val="80000"/>
              </a:lnSpc>
              <a:defRPr/>
            </a:pPr>
            <a:r>
              <a:rPr lang="en-US" sz="2600" b="1" dirty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By</a:t>
            </a:r>
          </a:p>
          <a:p>
            <a:pPr marR="0" algn="ctr" eaLnBrk="1" hangingPunct="1">
              <a:lnSpc>
                <a:spcPct val="80000"/>
              </a:lnSpc>
              <a:defRPr/>
            </a:pPr>
            <a:endParaRPr lang="en-US" sz="2600" b="1" dirty="0">
              <a:solidFill>
                <a:srgbClr val="00B0F0"/>
              </a:solidFill>
              <a:latin typeface="Times New Roman" pitchFamily="18" charset="0"/>
              <a:cs typeface="Times New Roman" pitchFamily="18" charset="0"/>
            </a:endParaRPr>
          </a:p>
          <a:p>
            <a:pPr marR="0" algn="ctr" eaLnBrk="1" hangingPunct="1">
              <a:lnSpc>
                <a:spcPct val="80000"/>
              </a:lnSpc>
              <a:defRPr/>
            </a:pPr>
            <a:r>
              <a:rPr lang="en-US" sz="3300" dirty="0">
                <a:solidFill>
                  <a:srgbClr val="0D0D0D"/>
                </a:solidFill>
                <a:latin typeface="Times New Roman" pitchFamily="18" charset="0"/>
                <a:cs typeface="Times New Roman" pitchFamily="18" charset="0"/>
              </a:rPr>
              <a:t>Member 1 Sai Saketh Vutharavalli                                                        roll 2520090055</a:t>
            </a:r>
          </a:p>
          <a:p>
            <a:pPr marR="0" algn="ctr" eaLnBrk="1" hangingPunct="1">
              <a:lnSpc>
                <a:spcPct val="80000"/>
              </a:lnSpc>
              <a:defRPr/>
            </a:pPr>
            <a:r>
              <a:rPr lang="en-US" sz="3300" dirty="0">
                <a:solidFill>
                  <a:srgbClr val="0D0D0D"/>
                </a:solidFill>
                <a:latin typeface="Times New Roman" pitchFamily="18" charset="0"/>
                <a:cs typeface="Times New Roman" pitchFamily="18" charset="0"/>
              </a:rPr>
              <a:t>Member 2  BURLLA CHENNA MALLESWAR REDDY                   roll 2520030546</a:t>
            </a:r>
          </a:p>
          <a:p>
            <a:pPr marR="0" algn="ctr" eaLnBrk="1" hangingPunct="1">
              <a:lnSpc>
                <a:spcPct val="80000"/>
              </a:lnSpc>
              <a:defRPr/>
            </a:pPr>
            <a:endParaRPr lang="en-US" sz="3300" dirty="0">
              <a:solidFill>
                <a:srgbClr val="0D0D0D"/>
              </a:solidFill>
              <a:latin typeface="Times New Roman" pitchFamily="18" charset="0"/>
              <a:cs typeface="Times New Roman" pitchFamily="18" charset="0"/>
            </a:endParaRPr>
          </a:p>
          <a:p>
            <a:pPr>
              <a:lnSpc>
                <a:spcPct val="80000"/>
              </a:lnSpc>
              <a:defRPr/>
            </a:pPr>
            <a:endParaRPr lang="en-US" sz="3600" b="1" dirty="0">
              <a:solidFill>
                <a:srgbClr val="00B0F0"/>
              </a:solidFill>
              <a:latin typeface="Times New Roman" pitchFamily="18" charset="0"/>
              <a:cs typeface="Times New Roman" pitchFamily="18" charset="0"/>
            </a:endParaRPr>
          </a:p>
          <a:p>
            <a:pPr>
              <a:lnSpc>
                <a:spcPct val="80000"/>
              </a:lnSpc>
              <a:defRPr/>
            </a:pPr>
            <a:r>
              <a:rPr lang="en-US" sz="3600" b="1" dirty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Team Number: 1</a:t>
            </a:r>
          </a:p>
          <a:p>
            <a:pPr marR="0" algn="ctr" eaLnBrk="1" hangingPunct="1">
              <a:lnSpc>
                <a:spcPct val="80000"/>
              </a:lnSpc>
              <a:defRPr/>
            </a:pPr>
            <a:endParaRPr lang="en-US" sz="3300" dirty="0">
              <a:solidFill>
                <a:srgbClr val="0D0D0D"/>
              </a:solidFill>
              <a:latin typeface="Times New Roman" pitchFamily="18" charset="0"/>
              <a:cs typeface="Times New Roman" pitchFamily="18" charset="0"/>
            </a:endParaRPr>
          </a:p>
          <a:p>
            <a:pPr marR="0" algn="ctr" eaLnBrk="1" hangingPunct="1">
              <a:lnSpc>
                <a:spcPct val="80000"/>
              </a:lnSpc>
              <a:defRPr/>
            </a:pPr>
            <a:endParaRPr lang="en-US" sz="1300" b="1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  <a:p>
            <a:pPr marR="0" algn="ctr" eaLnBrk="1" hangingPunct="1">
              <a:lnSpc>
                <a:spcPct val="80000"/>
              </a:lnSpc>
              <a:defRPr/>
            </a:pPr>
            <a:r>
              <a:rPr lang="en-GB" sz="3300" b="1" i="1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Under the guidance of </a:t>
            </a:r>
          </a:p>
          <a:p>
            <a:pPr marR="0" algn="ctr" eaLnBrk="1" hangingPunct="1">
              <a:lnSpc>
                <a:spcPct val="80000"/>
              </a:lnSpc>
              <a:defRPr/>
            </a:pPr>
            <a:endParaRPr lang="en-US" sz="2400" dirty="0">
              <a:solidFill>
                <a:srgbClr val="0D0D0D"/>
              </a:solidFill>
              <a:latin typeface="Times New Roman" pitchFamily="18" charset="0"/>
              <a:cs typeface="Times New Roman" pitchFamily="18" charset="0"/>
            </a:endParaRPr>
          </a:p>
          <a:p>
            <a:pPr marR="0" algn="ctr" eaLnBrk="1" hangingPunct="1">
              <a:lnSpc>
                <a:spcPct val="80000"/>
              </a:lnSpc>
              <a:defRPr/>
            </a:pPr>
            <a:r>
              <a:rPr lang="en-US" sz="3400" b="1" dirty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Dr. Nirmala Jyothi</a:t>
            </a:r>
          </a:p>
          <a:p>
            <a:pPr marR="0" algn="ctr" eaLnBrk="1" hangingPunct="1">
              <a:lnSpc>
                <a:spcPct val="80000"/>
              </a:lnSpc>
              <a:defRPr/>
            </a:pPr>
            <a:r>
              <a:rPr lang="en-US" sz="3400" b="1" dirty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Associate Professor </a:t>
            </a:r>
          </a:p>
          <a:p>
            <a:pPr marR="0" algn="ctr" eaLnBrk="1" hangingPunct="1">
              <a:lnSpc>
                <a:spcPct val="80000"/>
              </a:lnSpc>
              <a:defRPr/>
            </a:pPr>
            <a:endParaRPr lang="en-US" sz="2400" b="1" dirty="0">
              <a:solidFill>
                <a:srgbClr val="0070C0"/>
              </a:solidFill>
              <a:latin typeface="Times New Roman" pitchFamily="18" charset="0"/>
              <a:cs typeface="Times New Roman" pitchFamily="18" charset="0"/>
            </a:endParaRPr>
          </a:p>
          <a:p>
            <a:pPr marR="0" algn="ctr" eaLnBrk="1" hangingPunct="1">
              <a:lnSpc>
                <a:spcPct val="80000"/>
              </a:lnSpc>
              <a:defRPr/>
            </a:pPr>
            <a:r>
              <a:rPr lang="en-US" sz="4400" b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Department of Computer Science and Engineering</a:t>
            </a:r>
          </a:p>
          <a:p>
            <a:pPr marR="0" eaLnBrk="1" hangingPunct="1">
              <a:lnSpc>
                <a:spcPct val="80000"/>
              </a:lnSpc>
              <a:defRPr/>
            </a:pPr>
            <a:r>
              <a:rPr lang="en-US" sz="2400" b="1" dirty="0">
                <a:solidFill>
                  <a:srgbClr val="0D0D0D"/>
                </a:solidFill>
                <a:latin typeface="Times New Roman" pitchFamily="18" charset="0"/>
                <a:cs typeface="Times New Roman" pitchFamily="18" charset="0"/>
              </a:rPr>
              <a:t>                                                </a:t>
            </a:r>
            <a:r>
              <a:rPr lang="en-US" sz="2400" dirty="0">
                <a:solidFill>
                  <a:srgbClr val="0D0D0D"/>
                </a:solidFill>
                <a:latin typeface="Times New Roman" pitchFamily="18" charset="0"/>
                <a:cs typeface="Times New Roman" pitchFamily="18" charset="0"/>
              </a:rPr>
              <a:t>                                                                         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7BED8D-5B4C-C6AD-A1A2-3B730E16187D}"/>
              </a:ext>
            </a:extLst>
          </p:cNvPr>
          <p:cNvSpPr txBox="1"/>
          <p:nvPr/>
        </p:nvSpPr>
        <p:spPr>
          <a:xfrm>
            <a:off x="349155" y="5257800"/>
            <a:ext cx="9144000" cy="1365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lnSpc>
                <a:spcPct val="107000"/>
              </a:lnSpc>
              <a:spcBef>
                <a:spcPts val="1555"/>
              </a:spcBef>
              <a:spcAft>
                <a:spcPts val="800"/>
              </a:spcAft>
            </a:pPr>
            <a:r>
              <a:rPr lang="en-GB" sz="2800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Koneru </a:t>
            </a:r>
            <a:r>
              <a:rPr lang="en-GB" sz="2800" b="1" kern="1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Lakshmaiah</a:t>
            </a:r>
            <a:r>
              <a:rPr lang="en-GB" sz="2800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Education Foundation</a:t>
            </a:r>
            <a:br>
              <a:rPr lang="en-GB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(Deemed to be University </a:t>
            </a:r>
            <a:r>
              <a:rPr lang="en-GB" b="1" kern="1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estd</a:t>
            </a:r>
            <a:r>
              <a:rPr lang="en-GB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u/s. 3 of the UGC Act, 1956)</a:t>
            </a:r>
            <a:br>
              <a:rPr lang="en-GB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1600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Off-Campus: </a:t>
            </a:r>
            <a:r>
              <a:rPr lang="en-GB" sz="1600" b="1" kern="1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Bachupally-Gandimaisamma</a:t>
            </a:r>
            <a:r>
              <a:rPr lang="en-GB" sz="1600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Road, </a:t>
            </a:r>
            <a:r>
              <a:rPr lang="en-GB" sz="1600" b="1" kern="1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Bowrampet</a:t>
            </a:r>
            <a:r>
              <a:rPr lang="en-GB" sz="1600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Hyderabad, Telangana - 500 043.</a:t>
            </a:r>
            <a:br>
              <a:rPr lang="en-GB" sz="1600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1600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Phone No: 7815926816, </a:t>
            </a:r>
            <a:r>
              <a:rPr lang="en-GB" sz="1600" b="1" u="sng" kern="100" dirty="0">
                <a:solidFill>
                  <a:srgbClr val="467886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www.klh.edu.in</a:t>
            </a:r>
            <a:endParaRPr lang="en-US" sz="16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923E41-97D0-4F6C-49B5-B2194BF28C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5014" y="3969193"/>
            <a:ext cx="2499986" cy="12530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60336"/>
            <a:ext cx="8229600" cy="1143000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Outline of the Presentation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447801"/>
            <a:ext cx="8839200" cy="4678363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Abstract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Introduction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Problem Statement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Project Flow Diagram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Objectives with Justification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Modules[Frontend web pages]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Expected Outcomes of the Proposed Work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Conclusion 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References</a:t>
            </a:r>
          </a:p>
          <a:p>
            <a:endParaRPr lang="en-US" dirty="0">
              <a:latin typeface="Times New Roman" pitchFamily="18" charset="0"/>
              <a:cs typeface="Times New Roman" pitchFamily="18" charset="0"/>
            </a:endParaRPr>
          </a:p>
          <a:p>
            <a:endParaRPr lang="en-US" dirty="0">
              <a:latin typeface="Times New Roman" pitchFamily="18" charset="0"/>
              <a:cs typeface="Times New Roman" pitchFamily="18" charset="0"/>
            </a:endParaRP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703F64-1981-E3B7-E2B4-D11A4F6B6E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228599"/>
            <a:ext cx="1447800" cy="6858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Abstract</a:t>
            </a:r>
            <a:endParaRPr lang="en-US" sz="28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4F074E8-72E0-E39A-EEE7-DFD44C8741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9"/>
            <a:ext cx="8229600" cy="4708526"/>
          </a:xfrm>
        </p:spPr>
        <p:txBody>
          <a:bodyPr/>
          <a:lstStyle/>
          <a:p>
            <a:pPr>
              <a:buNone/>
            </a:pPr>
            <a:endParaRPr lang="en-US" sz="300" dirty="0"/>
          </a:p>
          <a:p>
            <a:pPr>
              <a:lnSpc>
                <a:spcPct val="130000"/>
              </a:lnSpc>
              <a:buNone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In today's fast-paced academic environment, long queues and manual order management in college</a:t>
            </a:r>
          </a:p>
          <a:p>
            <a:pPr>
              <a:lnSpc>
                <a:spcPct val="130000"/>
              </a:lnSpc>
              <a:buNone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canteens lead to significant time loss for students. The College Canteen Token System is a</a:t>
            </a:r>
          </a:p>
          <a:p>
            <a:pPr>
              <a:lnSpc>
                <a:spcPct val="130000"/>
              </a:lnSpc>
              <a:buNone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web-based application designed to digitize and streamline the meal pre-ordering process.</a:t>
            </a:r>
          </a:p>
          <a:p>
            <a:pPr>
              <a:buNone/>
            </a:pPr>
            <a:endParaRPr lang="en-US" sz="200" dirty="0"/>
          </a:p>
          <a:p>
            <a:pPr>
              <a:lnSpc>
                <a:spcPct val="130000"/>
              </a:lnSpc>
              <a:buNone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Students can browse the daily menu, apply dietary filters, place orders within defined daily</a:t>
            </a:r>
          </a:p>
          <a:p>
            <a:pPr>
              <a:lnSpc>
                <a:spcPct val="130000"/>
              </a:lnSpc>
              <a:buNone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limits, and complete a mock payment. Upon successful order placement, a unique QR-coded token</a:t>
            </a:r>
          </a:p>
          <a:p>
            <a:pPr>
              <a:lnSpc>
                <a:spcPct val="130000"/>
              </a:lnSpc>
              <a:buNone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is generated for contactless pickup at the canteen counter.</a:t>
            </a:r>
          </a:p>
          <a:p>
            <a:pPr>
              <a:buNone/>
            </a:pPr>
            <a:endParaRPr lang="en-US" sz="200" dirty="0"/>
          </a:p>
          <a:p>
            <a:pPr>
              <a:lnSpc>
                <a:spcPct val="130000"/>
              </a:lnSpc>
              <a:buNone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Built using Node.js, Express.js, HTML5, CSS3, and JavaScript, the application covers 10 modules</a:t>
            </a:r>
          </a:p>
          <a:p>
            <a:pPr>
              <a:lnSpc>
                <a:spcPct val="130000"/>
              </a:lnSpc>
              <a:buNone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including billing dashboard, order history, notifications, and a complete admin panel.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D39851-D9C0-A33B-6D40-99E6F7DCA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228599"/>
            <a:ext cx="1524000" cy="6858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Introduction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37586B6-5276-B3E3-CFD5-8DB648A7A8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endParaRPr lang="en-US" sz="200" dirty="0"/>
          </a:p>
          <a:p>
            <a:pPr>
              <a:lnSpc>
                <a:spcPct val="130000"/>
              </a:lnSpc>
              <a:buNone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The KLH college canteen serves hundreds of students daily during short break periods. Traditional</a:t>
            </a:r>
          </a:p>
          <a:p>
            <a:pPr>
              <a:lnSpc>
                <a:spcPct val="130000"/>
              </a:lnSpc>
              <a:buNone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queue-based ordering causes significant time waste and operational challenges for canteen staff.</a:t>
            </a:r>
          </a:p>
          <a:p>
            <a:pPr>
              <a:buNone/>
            </a:pPr>
            <a:endParaRPr lang="en-US" sz="200" dirty="0"/>
          </a:p>
          <a:p>
            <a:pPr>
              <a:spcBef>
                <a:spcPts val="200"/>
              </a:spcBef>
              <a:buNone/>
            </a:pPr>
            <a:r>
              <a:rPr lang="en-US" sz="2200" b="1" dirty="0">
                <a:solidFill>
                  <a:srgbClr val="2E74B5"/>
                </a:solidFill>
                <a:latin typeface="Times New Roman" pitchFamily="18" charset="0"/>
                <a:cs typeface="Times New Roman" pitchFamily="18" charset="0"/>
              </a:rPr>
              <a:t>What is the Canteen Token System?</a:t>
            </a:r>
          </a:p>
          <a:p>
            <a:pPr marL="342900" indent="-342900">
              <a:lnSpc>
                <a:spcPct val="120000"/>
              </a:lnSpc>
              <a:buFont typeface="Arial"/>
              <a:buChar char="•"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Students pre-order meals from their devices before break time</a:t>
            </a:r>
          </a:p>
          <a:p>
            <a:pPr marL="342900" indent="-342900">
              <a:lnSpc>
                <a:spcPct val="120000"/>
              </a:lnSpc>
              <a:buFont typeface="Arial"/>
              <a:buChar char="•"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Receive a unique QR-coded token for contactless pickup at counter</a:t>
            </a:r>
          </a:p>
          <a:p>
            <a:pPr marL="342900" indent="-342900">
              <a:lnSpc>
                <a:spcPct val="120000"/>
              </a:lnSpc>
              <a:buFont typeface="Arial"/>
              <a:buChar char="•"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Track real-time order status through in-app notifications</a:t>
            </a:r>
          </a:p>
          <a:p>
            <a:pPr marL="342900" indent="-342900">
              <a:lnSpc>
                <a:spcPct val="120000"/>
              </a:lnSpc>
              <a:buFont typeface="Arial"/>
              <a:buChar char="•"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View past orders and payment history anytime</a:t>
            </a:r>
          </a:p>
          <a:p>
            <a:pPr>
              <a:buNone/>
            </a:pPr>
            <a:endParaRPr lang="en-US" sz="200" dirty="0"/>
          </a:p>
          <a:p>
            <a:pPr>
              <a:spcBef>
                <a:spcPts val="200"/>
              </a:spcBef>
              <a:buNone/>
            </a:pPr>
            <a:r>
              <a:rPr lang="en-US" sz="2200" b="1" dirty="0">
                <a:solidFill>
                  <a:srgbClr val="2E74B5"/>
                </a:solidFill>
                <a:latin typeface="Times New Roman" pitchFamily="18" charset="0"/>
                <a:cs typeface="Times New Roman" pitchFamily="18" charset="0"/>
              </a:rPr>
              <a:t>Admin Capabilities</a:t>
            </a:r>
          </a:p>
          <a:p>
            <a:pPr marL="342900" indent="-342900">
              <a:lnSpc>
                <a:spcPct val="120000"/>
              </a:lnSpc>
              <a:buFont typeface="Arial"/>
              <a:buChar char="•"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Manage menu items and toggle daily availability</a:t>
            </a:r>
          </a:p>
          <a:p>
            <a:pPr marL="342900" indent="-342900">
              <a:lnSpc>
                <a:spcPct val="120000"/>
              </a:lnSpc>
              <a:buFont typeface="Arial"/>
              <a:buChar char="•"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View and process incoming orders in real time</a:t>
            </a:r>
          </a:p>
          <a:p>
            <a:pPr marL="342900" indent="-342900">
              <a:lnSpc>
                <a:spcPct val="120000"/>
              </a:lnSpc>
              <a:buFont typeface="Arial"/>
              <a:buChar char="•"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Access billing dashboard with revenue reports and stats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4B39558-3DAD-272B-5CA3-14B0A3E7EC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228599"/>
            <a:ext cx="1447800" cy="609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2488A-85CD-AB3F-6CFA-D3CF620C1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12521-5D18-3AE3-CFBD-94ED2EEDA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3100" b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Problem Statement</a:t>
            </a:r>
            <a:br>
              <a:rPr lang="en-US" b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</a:br>
            <a:endParaRPr lang="en-US" b="1" dirty="0">
              <a:solidFill>
                <a:srgbClr val="0070C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AD7B1E9-20DA-C5AF-B180-FACA704361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endParaRPr lang="en-US" sz="200" dirty="0"/>
          </a:p>
          <a:p>
            <a:pPr>
              <a:lnSpc>
                <a:spcPct val="130000"/>
              </a:lnSpc>
              <a:buNone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KLH University students face the following challenges at the college canteen:</a:t>
            </a:r>
          </a:p>
          <a:p>
            <a:pPr>
              <a:buNone/>
            </a:pPr>
            <a:endParaRPr lang="en-US" sz="150" dirty="0"/>
          </a:p>
          <a:p>
            <a:pPr marL="342900" indent="-342900">
              <a:lnSpc>
                <a:spcPct val="120000"/>
              </a:lnSpc>
              <a:buFont typeface="Arial"/>
              <a:buChar char="•"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Long queues during short break periods (10-15 min) result in students missing meals</a:t>
            </a:r>
          </a:p>
          <a:p>
            <a:pPr marL="342900" indent="-342900">
              <a:lnSpc>
                <a:spcPct val="120000"/>
              </a:lnSpc>
              <a:buFont typeface="Arial"/>
              <a:buChar char="•"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Manual order tracking leads to errors, missed orders, and wrong item delivery</a:t>
            </a:r>
          </a:p>
          <a:p>
            <a:pPr marL="342900" indent="-342900">
              <a:lnSpc>
                <a:spcPct val="120000"/>
              </a:lnSpc>
              <a:buFont typeface="Arial"/>
              <a:buChar char="•"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Students have no prior visibility into daily menu availability or sold-out items</a:t>
            </a:r>
          </a:p>
          <a:p>
            <a:pPr marL="342900" indent="-342900">
              <a:lnSpc>
                <a:spcPct val="120000"/>
              </a:lnSpc>
              <a:buFont typeface="Arial"/>
              <a:buChar char="•"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Cash handling at counter causes delays and is unhygienic in a post-pandemic setting</a:t>
            </a:r>
          </a:p>
          <a:p>
            <a:pPr marL="342900" indent="-342900">
              <a:lnSpc>
                <a:spcPct val="120000"/>
              </a:lnSpc>
              <a:buFont typeface="Arial"/>
              <a:buChar char="•"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Canteen staff have no digital record of orders, leading to billing inaccuracies</a:t>
            </a:r>
          </a:p>
          <a:p>
            <a:pPr marL="342900" indent="-342900">
              <a:lnSpc>
                <a:spcPct val="120000"/>
              </a:lnSpc>
              <a:buFont typeface="Arial"/>
              <a:buChar char="•"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No system exists to cap per-student orders, causing resource and food wastage</a:t>
            </a:r>
          </a:p>
          <a:p>
            <a:pPr>
              <a:buNone/>
            </a:pPr>
            <a:endParaRPr lang="en-US" sz="200" dirty="0"/>
          </a:p>
          <a:p>
            <a:pPr>
              <a:lnSpc>
                <a:spcPct val="130000"/>
              </a:lnSpc>
              <a:buNone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These issues directly impact student well-being, canteen efficiency, and academic punctuality.</a:t>
            </a:r>
          </a:p>
          <a:p>
            <a:pPr>
              <a:lnSpc>
                <a:spcPct val="130000"/>
              </a:lnSpc>
              <a:buNone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A digital token-based pre-ordering system is the ideal solution for KLH campus.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A16AF5D-F740-815B-410D-F8AD0C19F9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228599"/>
            <a:ext cx="1371600" cy="60960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907999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927C-18CB-E7CD-17FE-184519BC8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0BF7C-4E42-3323-319A-9E8717B94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Project Flow Diagram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C7B0B59-E773-3598-767E-554F3BF62E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endParaRPr lang="en-US" sz="150" dirty="0"/>
          </a:p>
          <a:p>
            <a:pPr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2E74B5"/>
                </a:solidFill>
                <a:latin typeface="Times New Roman" pitchFamily="18" charset="0"/>
                <a:cs typeface="Times New Roman" pitchFamily="18" charset="0"/>
              </a:rPr>
              <a:t>System Flow — Step by Step:</a:t>
            </a:r>
          </a:p>
          <a:p>
            <a:pPr>
              <a:buNone/>
            </a:pPr>
            <a:endParaRPr lang="en-US" sz="100" dirty="0"/>
          </a:p>
          <a:p>
            <a:pPr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33333"/>
                </a:solidFill>
                <a:latin typeface="Times New Roman" pitchFamily="18" charset="0"/>
                <a:cs typeface="Times New Roman" pitchFamily="18" charset="0"/>
              </a:rPr>
              <a:t>Student                      System Action                      Admin</a:t>
            </a:r>
          </a:p>
          <a:p>
            <a:pPr>
              <a:lnSpc>
                <a:spcPct val="130000"/>
              </a:lnSpc>
              <a:buNone/>
            </a:pPr>
            <a:r>
              <a:rPr lang="en-US" sz="18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1.  Login / Register    →    Authenticate user credentials</a:t>
            </a:r>
          </a:p>
          <a:p>
            <a:pPr>
              <a:lnSpc>
                <a:spcPct val="130000"/>
              </a:lnSpc>
              <a:buNone/>
            </a:pPr>
            <a:r>
              <a:rPr lang="en-US" sz="18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2.  Browse Daily Menu   →    Fetch menu from database      ←   Admin manages menu</a:t>
            </a:r>
          </a:p>
          <a:p>
            <a:pPr>
              <a:lnSpc>
                <a:spcPct val="130000"/>
              </a:lnSpc>
              <a:buNone/>
            </a:pPr>
            <a:r>
              <a:rPr lang="en-US" sz="18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3.  Apply Diet Filter   →    Filter veg / non-veg items</a:t>
            </a:r>
          </a:p>
          <a:p>
            <a:pPr>
              <a:lnSpc>
                <a:spcPct val="130000"/>
              </a:lnSpc>
              <a:buNone/>
            </a:pPr>
            <a:r>
              <a:rPr lang="en-US" sz="18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4.  Place Order (max 3) →    Validate daily order limit</a:t>
            </a:r>
          </a:p>
          <a:p>
            <a:pPr>
              <a:lnSpc>
                <a:spcPct val="130000"/>
              </a:lnSpc>
              <a:buNone/>
            </a:pPr>
            <a:r>
              <a:rPr lang="en-US" sz="18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5.  Mock Payment        →    Confirm UPI / Card / Cash payment</a:t>
            </a:r>
          </a:p>
          <a:p>
            <a:pPr>
              <a:lnSpc>
                <a:spcPct val="130000"/>
              </a:lnSpc>
              <a:buNone/>
            </a:pPr>
            <a:r>
              <a:rPr lang="en-US" sz="18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6.  Token Generated     →    Generate unique QR token      →   Notify admin panel</a:t>
            </a:r>
          </a:p>
          <a:p>
            <a:pPr>
              <a:lnSpc>
                <a:spcPct val="130000"/>
              </a:lnSpc>
              <a:buNone/>
            </a:pPr>
            <a:r>
              <a:rPr lang="en-US" sz="18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7.  Order Prepared      →    Status: Preparing             ←   Admin marks ready</a:t>
            </a:r>
          </a:p>
          <a:p>
            <a:pPr>
              <a:lnSpc>
                <a:spcPct val="130000"/>
              </a:lnSpc>
              <a:buNone/>
            </a:pPr>
            <a:r>
              <a:rPr lang="en-US" sz="18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8.  Collect at Counter  →    Status: Ready for pickup</a:t>
            </a:r>
          </a:p>
          <a:p>
            <a:pPr>
              <a:lnSpc>
                <a:spcPct val="130000"/>
              </a:lnSpc>
              <a:buNone/>
            </a:pPr>
            <a:r>
              <a:rPr lang="en-US" sz="18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9.  Order Complete      →    Update history and billing records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1A8919B-D2F8-AD13-EF7B-0B064723F9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157795"/>
            <a:ext cx="1447800" cy="60960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039695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9A8A46-CB7B-6564-F4CB-752687964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F7678-0395-6DAC-CFB1-E2B3DAA9A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274638"/>
            <a:ext cx="7848600" cy="1143000"/>
          </a:xfrm>
        </p:spPr>
        <p:txBody>
          <a:bodyPr>
            <a:normAutofit fontScale="90000"/>
          </a:bodyPr>
          <a:lstStyle/>
          <a:p>
            <a:r>
              <a:rPr lang="en-US" sz="3100" b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Objectives with Justification</a:t>
            </a:r>
            <a:br>
              <a:rPr lang="en-US" b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</a:br>
            <a:endParaRPr lang="en-US" b="1" dirty="0">
              <a:solidFill>
                <a:srgbClr val="0070C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9E92AC0-5ACE-1D58-9D37-96B7B27D65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95401"/>
            <a:ext cx="8229600" cy="4830764"/>
          </a:xfrm>
        </p:spPr>
        <p:txBody>
          <a:bodyPr/>
          <a:lstStyle/>
          <a:p>
            <a:pPr>
              <a:buNone/>
            </a:pPr>
            <a:endParaRPr lang="en-US" sz="150" dirty="0"/>
          </a:p>
          <a:p>
            <a:pPr>
              <a:spcBef>
                <a:spcPts val="200"/>
              </a:spcBef>
              <a:buNone/>
            </a:pPr>
            <a:r>
              <a:rPr lang="en-US" sz="2200" b="1" dirty="0">
                <a:solidFill>
                  <a:srgbClr val="2E74B5"/>
                </a:solidFill>
                <a:latin typeface="Times New Roman" pitchFamily="18" charset="0"/>
                <a:cs typeface="Times New Roman" pitchFamily="18" charset="0"/>
              </a:rPr>
              <a:t>Objective 1: Eliminate Queue Time</a:t>
            </a:r>
          </a:p>
          <a:p>
            <a:pPr>
              <a:lnSpc>
                <a:spcPct val="130000"/>
              </a:lnSpc>
              <a:buNone/>
            </a:pPr>
            <a:r>
              <a:rPr lang="en-US" sz="18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Allow students to pre-order meals online, removing the need to stand in canteen queues.</a:t>
            </a:r>
          </a:p>
          <a:p>
            <a:pPr>
              <a:buNone/>
            </a:pPr>
            <a:endParaRPr lang="en-US" sz="120" dirty="0"/>
          </a:p>
          <a:p>
            <a:pPr>
              <a:spcBef>
                <a:spcPts val="200"/>
              </a:spcBef>
              <a:buNone/>
            </a:pPr>
            <a:r>
              <a:rPr lang="en-US" sz="2200" b="1" dirty="0">
                <a:solidFill>
                  <a:srgbClr val="2E74B5"/>
                </a:solidFill>
                <a:latin typeface="Times New Roman" pitchFamily="18" charset="0"/>
                <a:cs typeface="Times New Roman" pitchFamily="18" charset="0"/>
              </a:rPr>
              <a:t>Objective 2: QR-Based Contactless Pickup</a:t>
            </a:r>
          </a:p>
          <a:p>
            <a:pPr>
              <a:lnSpc>
                <a:spcPct val="130000"/>
              </a:lnSpc>
              <a:buNone/>
            </a:pPr>
            <a:r>
              <a:rPr lang="en-US" sz="18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Generate a unique QR token per order enabling hygienic, fast, contactless collection.</a:t>
            </a:r>
          </a:p>
          <a:p>
            <a:pPr>
              <a:buNone/>
            </a:pPr>
            <a:endParaRPr lang="en-US" sz="120" dirty="0"/>
          </a:p>
          <a:p>
            <a:pPr>
              <a:spcBef>
                <a:spcPts val="200"/>
              </a:spcBef>
              <a:buNone/>
            </a:pPr>
            <a:r>
              <a:rPr lang="en-US" sz="2200" b="1" dirty="0">
                <a:solidFill>
                  <a:srgbClr val="2E74B5"/>
                </a:solidFill>
                <a:latin typeface="Times New Roman" pitchFamily="18" charset="0"/>
                <a:cs typeface="Times New Roman" pitchFamily="18" charset="0"/>
              </a:rPr>
              <a:t>Objective 3: Enforce Fair Daily Usage</a:t>
            </a:r>
          </a:p>
          <a:p>
            <a:pPr>
              <a:lnSpc>
                <a:spcPct val="130000"/>
              </a:lnSpc>
              <a:buNone/>
            </a:pPr>
            <a:r>
              <a:rPr lang="en-US" sz="18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Implement a daily cap of 3 orders per student to ensure fair distribution of meals.</a:t>
            </a:r>
          </a:p>
          <a:p>
            <a:pPr>
              <a:buNone/>
            </a:pPr>
            <a:endParaRPr lang="en-US" sz="120" dirty="0"/>
          </a:p>
          <a:p>
            <a:pPr>
              <a:spcBef>
                <a:spcPts val="200"/>
              </a:spcBef>
              <a:buNone/>
            </a:pPr>
            <a:r>
              <a:rPr lang="en-US" sz="2200" b="1" dirty="0">
                <a:solidFill>
                  <a:srgbClr val="2E74B5"/>
                </a:solidFill>
                <a:latin typeface="Times New Roman" pitchFamily="18" charset="0"/>
                <a:cs typeface="Times New Roman" pitchFamily="18" charset="0"/>
              </a:rPr>
              <a:t>Objective 4: Real-Time Admin Control</a:t>
            </a:r>
          </a:p>
          <a:p>
            <a:pPr>
              <a:lnSpc>
                <a:spcPct val="130000"/>
              </a:lnSpc>
              <a:buNone/>
            </a:pPr>
            <a:r>
              <a:rPr lang="en-US" sz="18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Provide canteen staff with a live dashboard to manage menu, orders, and revenue.</a:t>
            </a:r>
          </a:p>
          <a:p>
            <a:pPr>
              <a:buNone/>
            </a:pPr>
            <a:endParaRPr lang="en-US" sz="120" dirty="0"/>
          </a:p>
          <a:p>
            <a:pPr>
              <a:spcBef>
                <a:spcPts val="200"/>
              </a:spcBef>
              <a:buNone/>
            </a:pPr>
            <a:r>
              <a:rPr lang="en-US" sz="2200" b="1" dirty="0">
                <a:solidFill>
                  <a:srgbClr val="2E74B5"/>
                </a:solidFill>
                <a:latin typeface="Times New Roman" pitchFamily="18" charset="0"/>
                <a:cs typeface="Times New Roman" pitchFamily="18" charset="0"/>
              </a:rPr>
              <a:t>Objective 5: Dietary Preference Support</a:t>
            </a:r>
          </a:p>
          <a:p>
            <a:pPr>
              <a:lnSpc>
                <a:spcPct val="130000"/>
              </a:lnSpc>
              <a:buNone/>
            </a:pPr>
            <a:r>
              <a:rPr lang="en-US" sz="18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Allow students to filter menu by vegetarian or non-vegetarian preference easily.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DE80AD5-163E-DB68-2056-49EE1F1D6C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228599"/>
            <a:ext cx="1295400" cy="68580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996548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F5BA9-1BD9-9B5B-2F31-1D5E87DEC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B2385-D33C-E0C3-891C-98EDDEA01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7800" y="274638"/>
            <a:ext cx="7467600" cy="944562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Modules [Frontend web pages]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1E6E8A-A995-51F8-4B85-FB8AFDAF84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>
              <a:buNone/>
            </a:pPr>
            <a:endParaRPr lang="en-US" sz="150" dirty="0"/>
          </a:p>
          <a:p>
            <a:pPr marL="342900" indent="-342900">
              <a:lnSpc>
                <a:spcPct val="120000"/>
              </a:lnSpc>
              <a:buFont typeface="Arial"/>
              <a:buChar char="•"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Module 1: Menu Display — Daily menu with veg/non-veg filters &amp; availability badges</a:t>
            </a:r>
          </a:p>
          <a:p>
            <a:pPr marL="342900" indent="-342900">
              <a:lnSpc>
                <a:spcPct val="120000"/>
              </a:lnSpc>
              <a:buFont typeface="Arial"/>
              <a:buChar char="•"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Module 2: Token Form — Order form with item selection, quantity control &amp; special notes</a:t>
            </a:r>
          </a:p>
          <a:p>
            <a:pPr marL="342900" indent="-342900">
              <a:lnSpc>
                <a:spcPct val="120000"/>
              </a:lnSpc>
              <a:buFont typeface="Arial"/>
              <a:buChar char="•"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Module 3: Dietary Filter — Filter menu items by vegetarian or non-vegetarian preference</a:t>
            </a:r>
          </a:p>
          <a:p>
            <a:pPr marL="342900" indent="-342900">
              <a:lnSpc>
                <a:spcPct val="120000"/>
              </a:lnSpc>
              <a:buFont typeface="Arial"/>
              <a:buChar char="•"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Module 4: Daily Limit — Progress bar tracking 3-order daily cap per student</a:t>
            </a:r>
          </a:p>
          <a:p>
            <a:pPr marL="342900" indent="-342900">
              <a:lnSpc>
                <a:spcPct val="120000"/>
              </a:lnSpc>
              <a:buFont typeface="Arial"/>
              <a:buChar char="•"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Module 5: Payment Mock — UPI / Debit Card / Cash at Counter with GST calculation</a:t>
            </a:r>
          </a:p>
          <a:p>
            <a:pPr>
              <a:buNone/>
            </a:pPr>
            <a:endParaRPr lang="en-US" sz="150" dirty="0"/>
          </a:p>
          <a:p>
            <a:pPr marL="342900" indent="-342900">
              <a:lnSpc>
                <a:spcPct val="120000"/>
              </a:lnSpc>
              <a:buFont typeface="Arial"/>
              <a:buChar char="•"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Module 6: Token QR Generation — Unique QR-coded token for contactless pickup</a:t>
            </a:r>
          </a:p>
          <a:p>
            <a:pPr marL="342900" indent="-342900">
              <a:lnSpc>
                <a:spcPct val="120000"/>
              </a:lnSpc>
              <a:buFont typeface="Arial"/>
              <a:buChar char="•"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Module 7: Billing Dashboard — Revenue stats, category breakdown &amp; transaction table</a:t>
            </a:r>
          </a:p>
          <a:p>
            <a:pPr marL="342900" indent="-342900">
              <a:lnSpc>
                <a:spcPct val="120000"/>
              </a:lnSpc>
              <a:buFont typeface="Arial"/>
              <a:buChar char="•"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Module 8: Order History — Past orders filtered by student roll number</a:t>
            </a:r>
          </a:p>
          <a:p>
            <a:pPr marL="342900" indent="-342900">
              <a:lnSpc>
                <a:spcPct val="120000"/>
              </a:lnSpc>
              <a:buFont typeface="Arial"/>
              <a:buChar char="•"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Module 9: Notifications — Real-time alerts for order status &amp; canteen announcements</a:t>
            </a:r>
          </a:p>
          <a:p>
            <a:pPr marL="342900" indent="-342900">
              <a:lnSpc>
                <a:spcPct val="120000"/>
              </a:lnSpc>
              <a:buFont typeface="Arial"/>
              <a:buChar char="•"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Module 10: Admin Panel — Manage menu, mark orders ready &amp; configure settings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A9A09CE-DAD7-52FC-861A-08A399E89FC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92075"/>
            <a:ext cx="1295400" cy="63976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081335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A0219-72F6-E875-BE00-9DC12E326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6AD0D1-C48F-F8C2-40B0-E97271642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4638"/>
            <a:ext cx="7162800" cy="868362"/>
          </a:xfrm>
        </p:spPr>
        <p:txBody>
          <a:bodyPr>
            <a:normAutofit fontScale="90000"/>
          </a:bodyPr>
          <a:lstStyle/>
          <a:p>
            <a:r>
              <a:rPr lang="en-US" sz="3100" b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Expected Outcomes of the Proposed Work</a:t>
            </a:r>
            <a:br>
              <a:rPr lang="en-US" b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</a:br>
            <a:endParaRPr lang="en-US" b="1" dirty="0">
              <a:solidFill>
                <a:srgbClr val="0070C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70A7B1-AE81-675E-BE7D-3D5A36D1C3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1"/>
            <a:ext cx="8229600" cy="4983164"/>
          </a:xfrm>
        </p:spPr>
        <p:txBody>
          <a:bodyPr/>
          <a:lstStyle/>
          <a:p>
            <a:pPr>
              <a:buNone/>
            </a:pPr>
            <a:endParaRPr lang="en-US" sz="150" dirty="0"/>
          </a:p>
          <a:p>
            <a:pPr>
              <a:lnSpc>
                <a:spcPct val="130000"/>
              </a:lnSpc>
              <a:buNone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By the end of this project, the following outcomes are expected:</a:t>
            </a:r>
          </a:p>
          <a:p>
            <a:pPr>
              <a:buNone/>
            </a:pPr>
            <a:endParaRPr lang="en-US" sz="100" dirty="0"/>
          </a:p>
          <a:p>
            <a:pPr marL="342900" indent="-342900">
              <a:lnSpc>
                <a:spcPct val="120000"/>
              </a:lnSpc>
              <a:buFont typeface="Arial"/>
              <a:buChar char="•"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Students can pre-order meals and skip canteen queues entirely during break time</a:t>
            </a:r>
          </a:p>
          <a:p>
            <a:pPr marL="342900" indent="-342900">
              <a:lnSpc>
                <a:spcPct val="120000"/>
              </a:lnSpc>
              <a:buFont typeface="Arial"/>
              <a:buChar char="•"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A QR-coded token system enables contactless, error-free order pickup at the counter</a:t>
            </a:r>
          </a:p>
          <a:p>
            <a:pPr marL="342900" indent="-342900">
              <a:lnSpc>
                <a:spcPct val="120000"/>
              </a:lnSpc>
              <a:buFont typeface="Arial"/>
              <a:buChar char="•"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Canteen staff gain real-time visibility of all orders through the admin panel</a:t>
            </a:r>
          </a:p>
          <a:p>
            <a:pPr marL="342900" indent="-342900">
              <a:lnSpc>
                <a:spcPct val="120000"/>
              </a:lnSpc>
              <a:buFont typeface="Arial"/>
              <a:buChar char="•"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Daily revenue, category-wise sales, and transaction history are tracked digitally</a:t>
            </a:r>
          </a:p>
          <a:p>
            <a:pPr marL="342900" indent="-342900">
              <a:lnSpc>
                <a:spcPct val="120000"/>
              </a:lnSpc>
              <a:buFont typeface="Arial"/>
              <a:buChar char="•"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Per-student daily order limits reduce food wastage and ensure fair access to meals</a:t>
            </a:r>
          </a:p>
          <a:p>
            <a:pPr marL="342900" indent="-342900">
              <a:lnSpc>
                <a:spcPct val="120000"/>
              </a:lnSpc>
              <a:buFont typeface="Arial"/>
              <a:buChar char="•"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Dietary preferences are respected through built-in veg/non-veg menu filtering</a:t>
            </a:r>
          </a:p>
          <a:p>
            <a:pPr marL="342900" indent="-342900">
              <a:lnSpc>
                <a:spcPct val="120000"/>
              </a:lnSpc>
              <a:buFont typeface="Arial"/>
              <a:buChar char="•"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Students receive timely notifications when their order is ready for pickup</a:t>
            </a:r>
          </a:p>
          <a:p>
            <a:pPr marL="342900" indent="-342900">
              <a:lnSpc>
                <a:spcPct val="120000"/>
              </a:lnSpc>
              <a:buFont typeface="Arial"/>
              <a:buChar char="•"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A working full-stack Node.js + Express.js REST API application is demonstrated</a:t>
            </a:r>
          </a:p>
          <a:p>
            <a:pPr>
              <a:buNone/>
            </a:pPr>
            <a:endParaRPr lang="en-US" sz="150" dirty="0"/>
          </a:p>
          <a:p>
            <a:pPr>
              <a:lnSpc>
                <a:spcPct val="130000"/>
              </a:lnSpc>
              <a:buNone/>
            </a:pPr>
            <a:r>
              <a:rPr lang="en-US" sz="18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Overall Impact: Improved canteen efficiency, reduced student wait time, and a digitally</a:t>
            </a:r>
          </a:p>
          <a:p>
            <a:pPr>
              <a:lnSpc>
                <a:spcPct val="130000"/>
              </a:lnSpc>
              <a:buNone/>
            </a:pPr>
            <a:r>
              <a:rPr lang="en-US" sz="18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managed, hygienic meal ordering experience for the entire KLH campus.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CB392D-6672-9401-8EB8-2E1BA48858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92075"/>
            <a:ext cx="1295400" cy="7461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104880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600" y="228600"/>
            <a:ext cx="7696200" cy="685800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Conclusion and Future Scope</a:t>
            </a:r>
            <a:endParaRPr lang="en-IN" sz="2800" b="1" dirty="0">
              <a:solidFill>
                <a:srgbClr val="0070C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422A072-7E3B-BDEF-9B7B-2762599021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50925"/>
            <a:ext cx="8229600" cy="5075239"/>
          </a:xfrm>
        </p:spPr>
        <p:txBody>
          <a:bodyPr/>
          <a:lstStyle/>
          <a:p>
            <a:pPr>
              <a:buNone/>
            </a:pPr>
            <a:endParaRPr lang="en-US" sz="150" dirty="0"/>
          </a:p>
          <a:p>
            <a:pPr>
              <a:spcBef>
                <a:spcPts val="200"/>
              </a:spcBef>
              <a:buNone/>
            </a:pPr>
            <a:r>
              <a:rPr lang="en-US" sz="2200" b="1" dirty="0">
                <a:solidFill>
                  <a:srgbClr val="2E74B5"/>
                </a:solidFill>
                <a:latin typeface="Times New Roman" pitchFamily="18" charset="0"/>
                <a:cs typeface="Times New Roman" pitchFamily="18" charset="0"/>
              </a:rPr>
              <a:t>Conclusion</a:t>
            </a:r>
          </a:p>
          <a:p>
            <a:pPr>
              <a:lnSpc>
                <a:spcPct val="130000"/>
              </a:lnSpc>
              <a:buNone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The College Canteen Token System addresses the core problem of long queues and inefficient</a:t>
            </a:r>
          </a:p>
          <a:p>
            <a:pPr>
              <a:lnSpc>
                <a:spcPct val="130000"/>
              </a:lnSpc>
              <a:buNone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order management at KLH's canteen. By combining a student-friendly frontend with a robust</a:t>
            </a:r>
          </a:p>
          <a:p>
            <a:pPr>
              <a:lnSpc>
                <a:spcPct val="130000"/>
              </a:lnSpc>
              <a:buNone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Node.js backend and 10 well-defined modules, the application delivers a complete, practical,</a:t>
            </a:r>
          </a:p>
          <a:p>
            <a:pPr>
              <a:lnSpc>
                <a:spcPct val="130000"/>
              </a:lnSpc>
              <a:buNone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and deployable solution for the KLH campus environment.</a:t>
            </a:r>
          </a:p>
          <a:p>
            <a:pPr>
              <a:buNone/>
            </a:pPr>
            <a:endParaRPr lang="en-US" sz="200" dirty="0"/>
          </a:p>
          <a:p>
            <a:pPr>
              <a:spcBef>
                <a:spcPts val="200"/>
              </a:spcBef>
              <a:buNone/>
            </a:pPr>
            <a:r>
              <a:rPr lang="en-US" sz="2200" b="1" dirty="0">
                <a:solidFill>
                  <a:srgbClr val="2E74B5"/>
                </a:solidFill>
                <a:latin typeface="Times New Roman" pitchFamily="18" charset="0"/>
                <a:cs typeface="Times New Roman" pitchFamily="18" charset="0"/>
              </a:rPr>
              <a:t>Future Scope</a:t>
            </a:r>
          </a:p>
          <a:p>
            <a:pPr marL="342900" indent="-342900">
              <a:lnSpc>
                <a:spcPct val="120000"/>
              </a:lnSpc>
              <a:buFont typeface="Arial"/>
              <a:buChar char="•"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Integration with real UPI/payment gateway (Razorpay / PayU)</a:t>
            </a:r>
          </a:p>
          <a:p>
            <a:pPr marL="342900" indent="-342900">
              <a:lnSpc>
                <a:spcPct val="120000"/>
              </a:lnSpc>
              <a:buFont typeface="Arial"/>
              <a:buChar char="•"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MySQL database for persistent order and menu storage instead of LocalStorage</a:t>
            </a:r>
          </a:p>
          <a:p>
            <a:pPr marL="342900" indent="-342900">
              <a:lnSpc>
                <a:spcPct val="120000"/>
              </a:lnSpc>
              <a:buFont typeface="Arial"/>
              <a:buChar char="•"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Mobile app version using React Native for easier student access</a:t>
            </a:r>
          </a:p>
          <a:p>
            <a:pPr marL="342900" indent="-342900">
              <a:lnSpc>
                <a:spcPct val="120000"/>
              </a:lnSpc>
              <a:buFont typeface="Arial"/>
              <a:buChar char="•"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Facial recognition or RFID-based token verification at the counter</a:t>
            </a:r>
          </a:p>
          <a:p>
            <a:pPr marL="342900" indent="-342900">
              <a:lnSpc>
                <a:spcPct val="120000"/>
              </a:lnSpc>
              <a:buFont typeface="Arial"/>
              <a:buChar char="•"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AI-based meal recommendation engine based on student order history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F884086-DCA6-09DA-2ED3-B35984EF31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92075"/>
            <a:ext cx="1295400" cy="6397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References 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C677EB-3C69-1E22-5FF9-F70E3FD996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endParaRPr lang="en-US" sz="200" dirty="0"/>
          </a:p>
          <a:p>
            <a:pPr>
              <a:lnSpc>
                <a:spcPct val="130000"/>
              </a:lnSpc>
              <a:buNone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[1]  Node.js Documentation — https://nodejs.org/en/docs</a:t>
            </a:r>
          </a:p>
          <a:p>
            <a:pPr>
              <a:buNone/>
            </a:pPr>
            <a:endParaRPr lang="en-US" sz="100" dirty="0"/>
          </a:p>
          <a:p>
            <a:pPr>
              <a:lnSpc>
                <a:spcPct val="130000"/>
              </a:lnSpc>
              <a:buNone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[2]  Express.js Documentation — https://expressjs.com/</a:t>
            </a:r>
          </a:p>
          <a:p>
            <a:pPr>
              <a:buNone/>
            </a:pPr>
            <a:endParaRPr lang="en-US" sz="100" dirty="0"/>
          </a:p>
          <a:p>
            <a:pPr>
              <a:lnSpc>
                <a:spcPct val="130000"/>
              </a:lnSpc>
              <a:buNone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[3]  MDN Web Docs: HTML5, CSS3, JavaScript — https://developer.mozilla.org</a:t>
            </a:r>
          </a:p>
          <a:p>
            <a:pPr>
              <a:buNone/>
            </a:pPr>
            <a:endParaRPr lang="en-US" sz="100" dirty="0"/>
          </a:p>
          <a:p>
            <a:pPr>
              <a:lnSpc>
                <a:spcPct val="130000"/>
              </a:lnSpc>
              <a:buNone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[4]  qrcode npm Package — https://www.npmjs.com/package/qrcode</a:t>
            </a:r>
          </a:p>
          <a:p>
            <a:pPr>
              <a:buNone/>
            </a:pPr>
            <a:endParaRPr lang="en-US" sz="100" dirty="0"/>
          </a:p>
          <a:p>
            <a:pPr>
              <a:lnSpc>
                <a:spcPct val="130000"/>
              </a:lnSpc>
              <a:buNone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[5]  Postman API Testing Tool — https://www.postman.com/</a:t>
            </a:r>
          </a:p>
          <a:p>
            <a:pPr>
              <a:buNone/>
            </a:pPr>
            <a:endParaRPr lang="en-US" sz="100" dirty="0"/>
          </a:p>
          <a:p>
            <a:pPr>
              <a:lnSpc>
                <a:spcPct val="130000"/>
              </a:lnSpc>
              <a:buNone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[6]  KLH University Official Website — https://www.klh.edu.in</a:t>
            </a:r>
          </a:p>
          <a:p>
            <a:pPr>
              <a:buNone/>
            </a:pPr>
            <a:endParaRPr lang="en-US" sz="100" dirty="0"/>
          </a:p>
          <a:p>
            <a:pPr>
              <a:lnSpc>
                <a:spcPct val="130000"/>
              </a:lnSpc>
              <a:buNone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[7]  Roy Fielding, Architectural Styles and the Design of Network-based Software</a:t>
            </a:r>
          </a:p>
          <a:p>
            <a:pPr>
              <a:lnSpc>
                <a:spcPct val="130000"/>
              </a:lnSpc>
              <a:buNone/>
            </a:pPr>
            <a:r>
              <a:rPr lang="en-US" sz="1900" b="0" dirty="0">
                <a:solidFill>
                  <a:srgbClr val="1A1A1A"/>
                </a:solidFill>
                <a:latin typeface="Times New Roman" pitchFamily="18" charset="0"/>
                <a:cs typeface="Times New Roman" pitchFamily="18" charset="0"/>
              </a:rPr>
              <a:t>      Architectures, University of California, Irvine, 2000.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1A5246-9866-9B93-E230-9793263438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92075"/>
            <a:ext cx="1447800" cy="6397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12075-789A-8ABC-0318-3539CA69D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CD8B799-1014-A270-C662-4E878FAC9288}"/>
              </a:ext>
            </a:extLst>
          </p:cNvPr>
          <p:cNvSpPr/>
          <p:nvPr/>
        </p:nvSpPr>
        <p:spPr>
          <a:xfrm>
            <a:off x="1767855" y="2774216"/>
            <a:ext cx="560828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Thank you</a:t>
            </a:r>
            <a:endParaRPr lang="en-US" sz="5400" b="1" cap="none" spc="0" dirty="0">
              <a:ln w="13462">
                <a:solidFill>
                  <a:schemeClr val="bg1"/>
                </a:solidFill>
                <a:prstDash val="solid"/>
              </a:ln>
              <a:solidFill>
                <a:schemeClr val="tx1">
                  <a:lumMod val="85000"/>
                  <a:lumOff val="15000"/>
                </a:schemeClr>
              </a:solidFill>
              <a:effectLst>
                <a:outerShdw dist="38100" dir="2700000" algn="bl" rotWithShape="0">
                  <a:schemeClr val="accent5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5584115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1829</TotalTime>
  <Words>1239</Words>
  <Application>Microsoft Office PowerPoint</Application>
  <PresentationFormat>On-screen Show (4:3)</PresentationFormat>
  <Paragraphs>160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Arial</vt:lpstr>
      <vt:lpstr>Calibri</vt:lpstr>
      <vt:lpstr>Times New Roman</vt:lpstr>
      <vt:lpstr>Office Theme</vt:lpstr>
      <vt:lpstr> A Project Review Meeting    on College Canteen Token System</vt:lpstr>
      <vt:lpstr>Outline of the Presentation</vt:lpstr>
      <vt:lpstr>Abstract</vt:lpstr>
      <vt:lpstr>Introduction</vt:lpstr>
      <vt:lpstr>Problem Statement </vt:lpstr>
      <vt:lpstr>Project Flow Diagram</vt:lpstr>
      <vt:lpstr>Objectives with Justification </vt:lpstr>
      <vt:lpstr>Modules [Frontend web pages]</vt:lpstr>
      <vt:lpstr>Expected Outcomes of the Proposed Work </vt:lpstr>
      <vt:lpstr>Conclusion and Future Scope</vt:lpstr>
      <vt:lpstr>References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Abstract</dc:title>
  <dc:creator>subbu</dc:creator>
  <cp:lastModifiedBy>Bhargavi Vutharavalli</cp:lastModifiedBy>
  <cp:revision>199</cp:revision>
  <dcterms:created xsi:type="dcterms:W3CDTF">2006-08-16T00:00:00Z</dcterms:created>
  <dcterms:modified xsi:type="dcterms:W3CDTF">2026-06-12T07:26:34Z</dcterms:modified>
</cp:coreProperties>
</file>